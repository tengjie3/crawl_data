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8229e938741af" /><Relationship Type="http://schemas.openxmlformats.org/officeDocument/2006/relationships/extended-properties" Target="/docProps/app.xml" Id="Rd87bbb2975d747b2" /><Relationship Type="http://schemas.openxmlformats.org/officeDocument/2006/relationships/officeDocument" Target="/ppt/presentation.xml" Id="Red86d26e3e53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383842c6e4ecb"/>
  </p:sldMasterIdLst>
  <p:notesMasterIdLst>
    <p:notesMasterId xmlns:r="http://schemas.openxmlformats.org/officeDocument/2006/relationships" r:id="R808909406c3c4c6a"/>
  </p:notesMasterIdLst>
  <p:sldIdLst>
    <p:sldId xmlns:r="http://schemas.openxmlformats.org/officeDocument/2006/relationships" id="256" r:id="R354bf1525b1144a0"/>
    <p:sldId xmlns:r="http://schemas.openxmlformats.org/officeDocument/2006/relationships" id="257" r:id="Rfd18ed9a808146a1"/>
    <p:sldId xmlns:r="http://schemas.openxmlformats.org/officeDocument/2006/relationships" id="258" r:id="R6c3e324be70342a9"/>
    <p:sldId xmlns:r="http://schemas.openxmlformats.org/officeDocument/2006/relationships" id="259" r:id="R5596014350034039"/>
    <p:sldId xmlns:r="http://schemas.openxmlformats.org/officeDocument/2006/relationships" id="260" r:id="Re55749e960654935"/>
    <p:sldId xmlns:r="http://schemas.openxmlformats.org/officeDocument/2006/relationships" id="261" r:id="R9a11bda5c35d47a2"/>
    <p:sldId xmlns:r="http://schemas.openxmlformats.org/officeDocument/2006/relationships" id="262" r:id="R11caa883d38246ba"/>
    <p:sldId xmlns:r="http://schemas.openxmlformats.org/officeDocument/2006/relationships" id="263" r:id="Rad2731168a0449f3"/>
    <p:sldId xmlns:r="http://schemas.openxmlformats.org/officeDocument/2006/relationships" id="264" r:id="R3f6b4d358b674e6d"/>
    <p:sldId xmlns:r="http://schemas.openxmlformats.org/officeDocument/2006/relationships" id="265" r:id="Rfe97a0fd10cf42a0"/>
    <p:sldId xmlns:r="http://schemas.openxmlformats.org/officeDocument/2006/relationships" id="266" r:id="Rf1b9927728204754"/>
    <p:sldId xmlns:r="http://schemas.openxmlformats.org/officeDocument/2006/relationships" id="267" r:id="R85da95aaf77b4c96"/>
    <p:sldId xmlns:r="http://schemas.openxmlformats.org/officeDocument/2006/relationships" id="268" r:id="R6e84e2977410440c"/>
    <p:sldId xmlns:r="http://schemas.openxmlformats.org/officeDocument/2006/relationships" id="269" r:id="R86210153e6914db7"/>
    <p:sldId xmlns:r="http://schemas.openxmlformats.org/officeDocument/2006/relationships" id="270" r:id="Rbb065fb703424da7"/>
    <p:sldId xmlns:r="http://schemas.openxmlformats.org/officeDocument/2006/relationships" id="271" r:id="R7158cdc510e04961"/>
    <p:sldId xmlns:r="http://schemas.openxmlformats.org/officeDocument/2006/relationships" id="272" r:id="R18ccab86bfb24b69"/>
    <p:sldId xmlns:r="http://schemas.openxmlformats.org/officeDocument/2006/relationships" id="273" r:id="R8e9263d632654e16"/>
    <p:sldId xmlns:r="http://schemas.openxmlformats.org/officeDocument/2006/relationships" id="274" r:id="Rca3fb27546784ae6"/>
    <p:sldId xmlns:r="http://schemas.openxmlformats.org/officeDocument/2006/relationships" id="275" r:id="Rbf676714161c48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61b4cac74341f5" /><Relationship Type="http://schemas.openxmlformats.org/officeDocument/2006/relationships/slideMaster" Target="/ppt/slideMasters/slideMaster1.xml" Id="Rc2e383842c6e4ecb" /><Relationship Type="http://schemas.openxmlformats.org/officeDocument/2006/relationships/notesMaster" Target="/ppt/notesMasters/notesMaster1.xml" Id="R808909406c3c4c6a" /><Relationship Type="http://schemas.openxmlformats.org/officeDocument/2006/relationships/presProps" Target="/ppt/presProps.xml" Id="Rac4735b0b1e14a55" /><Relationship Type="http://schemas.openxmlformats.org/officeDocument/2006/relationships/tableStyles" Target="/ppt/tableStyles.xml" Id="Ra53a0733d3194346" /><Relationship Type="http://schemas.openxmlformats.org/officeDocument/2006/relationships/slide" Target="/ppt/slides/slide1.xml" Id="R354bf1525b1144a0" /><Relationship Type="http://schemas.openxmlformats.org/officeDocument/2006/relationships/slide" Target="/ppt/slides/slide2.xml" Id="Rfd18ed9a808146a1" /><Relationship Type="http://schemas.openxmlformats.org/officeDocument/2006/relationships/slide" Target="/ppt/slides/slide3.xml" Id="R6c3e324be70342a9" /><Relationship Type="http://schemas.openxmlformats.org/officeDocument/2006/relationships/slide" Target="/ppt/slides/slide4.xml" Id="R5596014350034039" /><Relationship Type="http://schemas.openxmlformats.org/officeDocument/2006/relationships/slide" Target="/ppt/slides/slide5.xml" Id="Re55749e960654935" /><Relationship Type="http://schemas.openxmlformats.org/officeDocument/2006/relationships/slide" Target="/ppt/slides/slide6.xml" Id="R9a11bda5c35d47a2" /><Relationship Type="http://schemas.openxmlformats.org/officeDocument/2006/relationships/slide" Target="/ppt/slides/slide7.xml" Id="R11caa883d38246ba" /><Relationship Type="http://schemas.openxmlformats.org/officeDocument/2006/relationships/slide" Target="/ppt/slides/slide8.xml" Id="Rad2731168a0449f3" /><Relationship Type="http://schemas.openxmlformats.org/officeDocument/2006/relationships/slide" Target="/ppt/slides/slide9.xml" Id="R3f6b4d358b674e6d" /><Relationship Type="http://schemas.openxmlformats.org/officeDocument/2006/relationships/slide" Target="/ppt/slides/slide10.xml" Id="Rfe97a0fd10cf42a0" /><Relationship Type="http://schemas.openxmlformats.org/officeDocument/2006/relationships/slide" Target="/ppt/slides/slide11.xml" Id="Rf1b9927728204754" /><Relationship Type="http://schemas.openxmlformats.org/officeDocument/2006/relationships/slide" Target="/ppt/slides/slide12.xml" Id="R85da95aaf77b4c96" /><Relationship Type="http://schemas.openxmlformats.org/officeDocument/2006/relationships/slide" Target="/ppt/slides/slide13.xml" Id="R6e84e2977410440c" /><Relationship Type="http://schemas.openxmlformats.org/officeDocument/2006/relationships/slide" Target="/ppt/slides/slide14.xml" Id="R86210153e6914db7" /><Relationship Type="http://schemas.openxmlformats.org/officeDocument/2006/relationships/slide" Target="/ppt/slides/slide15.xml" Id="Rbb065fb703424da7" /><Relationship Type="http://schemas.openxmlformats.org/officeDocument/2006/relationships/slide" Target="/ppt/slides/slide16.xml" Id="R7158cdc510e04961" /><Relationship Type="http://schemas.openxmlformats.org/officeDocument/2006/relationships/slide" Target="/ppt/slides/slide17.xml" Id="R18ccab86bfb24b69" /><Relationship Type="http://schemas.openxmlformats.org/officeDocument/2006/relationships/slide" Target="/ppt/slides/slide18.xml" Id="R8e9263d632654e16" /><Relationship Type="http://schemas.openxmlformats.org/officeDocument/2006/relationships/slide" Target="/ppt/slides/slide19.xml" Id="Rca3fb27546784ae6" /><Relationship Type="http://schemas.openxmlformats.org/officeDocument/2006/relationships/slide" Target="/ppt/slides/slide20.xml" Id="Rbf676714161c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11f1983c242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29c54dea2b4215" /><Relationship Type="http://schemas.openxmlformats.org/officeDocument/2006/relationships/notesMaster" Target="/ppt/notesMasters/notesMaster1.xml" Id="R619b4f8b28de43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7cb24fc897416e" /><Relationship Type="http://schemas.openxmlformats.org/officeDocument/2006/relationships/notesMaster" Target="/ppt/notesMasters/notesMaster1.xml" Id="R47bf0cfae20344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2fc0ac4db42fa" /><Relationship Type="http://schemas.openxmlformats.org/officeDocument/2006/relationships/notesMaster" Target="/ppt/notesMasters/notesMaster1.xml" Id="R305a2de16c2c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47e6fe039451e" /><Relationship Type="http://schemas.openxmlformats.org/officeDocument/2006/relationships/notesMaster" Target="/ppt/notesMasters/notesMaster1.xml" Id="Ref175eb5d49e41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2a084f6b4469d" /><Relationship Type="http://schemas.openxmlformats.org/officeDocument/2006/relationships/notesMaster" Target="/ppt/notesMasters/notesMaster1.xml" Id="R91ec01dc7ed149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01bab5b0b4740" /><Relationship Type="http://schemas.openxmlformats.org/officeDocument/2006/relationships/notesMaster" Target="/ppt/notesMasters/notesMaster1.xml" Id="R27182e70936746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822a121e6544e4" /><Relationship Type="http://schemas.openxmlformats.org/officeDocument/2006/relationships/notesMaster" Target="/ppt/notesMasters/notesMaster1.xml" Id="R74c1f410c6ec41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31e04935c54487" /><Relationship Type="http://schemas.openxmlformats.org/officeDocument/2006/relationships/notesMaster" Target="/ppt/notesMasters/notesMaster1.xml" Id="R7b2b041d9eb448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4ea64f7d734ac9" /><Relationship Type="http://schemas.openxmlformats.org/officeDocument/2006/relationships/notesMaster" Target="/ppt/notesMasters/notesMaster1.xml" Id="R60c355ddd94b40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5df62106e4345" /><Relationship Type="http://schemas.openxmlformats.org/officeDocument/2006/relationships/notesMaster" Target="/ppt/notesMasters/notesMaster1.xml" Id="R39b58bc2626c48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3e721c7e264754" /><Relationship Type="http://schemas.openxmlformats.org/officeDocument/2006/relationships/notesMaster" Target="/ppt/notesMasters/notesMaster1.xml" Id="Ra087ba018bda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9dd7d8649a4548" /><Relationship Type="http://schemas.openxmlformats.org/officeDocument/2006/relationships/notesMaster" Target="/ppt/notesMasters/notesMaster1.xml" Id="R59138477aced43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34f0d32b064738" /><Relationship Type="http://schemas.openxmlformats.org/officeDocument/2006/relationships/notesMaster" Target="/ppt/notesMasters/notesMaster1.xml" Id="R870bf5f597b040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f1b100fa4640ad" /><Relationship Type="http://schemas.openxmlformats.org/officeDocument/2006/relationships/notesMaster" Target="/ppt/notesMasters/notesMaster1.xml" Id="R192da49607fe4c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b73c9a32444b62" /><Relationship Type="http://schemas.openxmlformats.org/officeDocument/2006/relationships/notesMaster" Target="/ppt/notesMasters/notesMaster1.xml" Id="R52f03e99056d4a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ebedb94225439f" /><Relationship Type="http://schemas.openxmlformats.org/officeDocument/2006/relationships/notesMaster" Target="/ppt/notesMasters/notesMaster1.xml" Id="R76310485a9c146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fcf5f920074456" /><Relationship Type="http://schemas.openxmlformats.org/officeDocument/2006/relationships/notesMaster" Target="/ppt/notesMasters/notesMaster1.xml" Id="R34e3df94d93e4c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e17e85ca154044" /><Relationship Type="http://schemas.openxmlformats.org/officeDocument/2006/relationships/notesMaster" Target="/ppt/notesMasters/notesMaster1.xml" Id="R802e1c7e107445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886380c10940a7" /><Relationship Type="http://schemas.openxmlformats.org/officeDocument/2006/relationships/notesMaster" Target="/ppt/notesMasters/notesMaster1.xml" Id="R7c84297b81d14e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c82e99fa294fd6" /><Relationship Type="http://schemas.openxmlformats.org/officeDocument/2006/relationships/notesMaster" Target="/ppt/notesMasters/notesMaster1.xml" Id="R735ee3caa26749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参考所提供 PPT 的白底、红色标题、五章目录、流程图与表格形式。封面界面为本项目实际截图。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外部依据：Common Crawl https://commoncrawl.org/get-started；fastText https://fasttext.cc/docs/en/language-identification.html；Data profiling https://github.com/Data-Centric-AI-Community/fg-data-profiling；OpenDataArena https://github.com/OpenDataArena/OpenDataArena-Tool 。本表比较公开工具的定位，不构成性能基准。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实现依据：outputs/build_actual_movie_dataset_profile.mjs；outputs/build_education_literature_profiles.mjs。当前包含多语言词典匹配、来源元数据关联、文本上下文与先验补标。推断标签不等同于人工真值。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代码依据：outputs/evaluate_commoncrawl_233_cleaned_gt90.mjs 中 evaluateIntrinsicQuality、evaluateOrganizationScope、evaluateApplicationScope、evaluateOpenDataArenaScore。当前目录沿用归档总分 25%/20%/25%/30%，与页面等权25%说明不一致。此处如实披露，不重写历史分数。OpenDataArena integrationMode=deterministic_proxy，不是上游官方训练测评。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目录快照统计。285套×每套3000条=855000条目录记录，不表示855000个跨数据集独立内容。逻辑存储为219284168029字节，按1024单位约204.23GiB。语言14项包含UnknownLanguage。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项目证据：dataset_catalog.json；outputs/build_dataset_catalog_portal.mjs；outputs/lib/dataset_profile_report_builder.mjs；outputs/tools/dataset_merge_server.py。统计快照：2026-09-15。</a:t>
            </a:r>
          </a:p>
          <a:p xmlns:a="http://schemas.openxmlformats.org/drawingml/2006/main">
            <a:r>
              <a:t>Common Crawl 数据访问：https://commoncrawl.org/get-started</a:t>
            </a:r>
          </a:p>
          <a:p xmlns:a="http://schemas.openxmlformats.org/drawingml/2006/main">
            <a:r>
              <a:t>fastText 语言识别：https://fasttext.cc/docs/en/language-identification.html</a:t>
            </a:r>
          </a:p>
          <a:p xmlns:a="http://schemas.openxmlformats.org/drawingml/2006/main">
            <a:r>
              <a:t>数据 Profiling：https://github.com/Data-Centric-AI-Community/fg-data-profiling</a:t>
            </a:r>
          </a:p>
          <a:p xmlns:a="http://schemas.openxmlformats.org/drawingml/2006/main">
            <a:r>
              <a:t>OpenDataArena-Tool：https://github.com/OpenDataArena/OpenDataArena-Tool</a:t>
            </a:r>
          </a:p>
          <a:p xmlns:a="http://schemas.openxmlformats.org/drawingml/2006/main">
            <a:r>
              <a:t>参考材料的署名、专利性判断与实验效果未移植为本项目事实。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9f2762285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841f3255f47bf" /><Relationship Type="http://schemas.openxmlformats.org/officeDocument/2006/relationships/slideLayout" Target="/ppt/slideLayouts/slideLayout1.xml" Id="Rb4c3ce0b65834a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c3ce0b65834a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05e027a204b24" /><Relationship Type="http://schemas.openxmlformats.org/officeDocument/2006/relationships/image" Target="/ppt/media/image.png" Id="Rc5d8daba7d40403f" /><Relationship Type="http://schemas.openxmlformats.org/officeDocument/2006/relationships/notesSlide" Target="/ppt/notesSlides/notesSlide1.xml" Id="Ra7dc4dd4a676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1efe38d4549c0" /><Relationship Type="http://schemas.openxmlformats.org/officeDocument/2006/relationships/notesSlide" Target="/ppt/notesSlides/notesSlide2.xml" Id="R72529c8bf17f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0f1f5be734cb9" /><Relationship Type="http://schemas.openxmlformats.org/officeDocument/2006/relationships/notesSlide" Target="/ppt/notesSlides/notesSlide3.xml" Id="R2533e476dcda46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9a865795d4f24" /><Relationship Type="http://schemas.openxmlformats.org/officeDocument/2006/relationships/notesSlide" Target="/ppt/notesSlides/notesSlide4.xml" Id="R264f38f8e0ce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55b83ed94d53" /><Relationship Type="http://schemas.openxmlformats.org/officeDocument/2006/relationships/notesSlide" Target="/ppt/notesSlides/notesSlide5.xml" Id="R6c9eca08b7e344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9fd9dfabe4494" /><Relationship Type="http://schemas.openxmlformats.org/officeDocument/2006/relationships/notesSlide" Target="/ppt/notesSlides/notesSlide6.xml" Id="Re4fe04914eed46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c4a0125294347" /><Relationship Type="http://schemas.openxmlformats.org/officeDocument/2006/relationships/notesSlide" Target="/ppt/notesSlides/notesSlide7.xml" Id="R260b7c35090a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2d359263c4dfe" /><Relationship Type="http://schemas.openxmlformats.org/officeDocument/2006/relationships/notesSlide" Target="/ppt/notesSlides/notesSlide8.xml" Id="R2a9831060c9641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3c50c2a9459b" /><Relationship Type="http://schemas.openxmlformats.org/officeDocument/2006/relationships/notesSlide" Target="/ppt/notesSlides/notesSlide9.xml" Id="R09c0c631ee2945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0c1a7aa9e4db9" /><Relationship Type="http://schemas.openxmlformats.org/officeDocument/2006/relationships/image" Target="/ppt/media/image2.png" Id="Rd1a2a5bd0437489d" /><Relationship Type="http://schemas.openxmlformats.org/officeDocument/2006/relationships/notesSlide" Target="/ppt/notesSlides/notesSlide10.xml" Id="Rf46fa3590ea045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c082f8f9f4f88" /><Relationship Type="http://schemas.openxmlformats.org/officeDocument/2006/relationships/image" Target="/ppt/media/image3.png" Id="Rebbc2cd816f4457a" /><Relationship Type="http://schemas.openxmlformats.org/officeDocument/2006/relationships/notesSlide" Target="/ppt/notesSlides/notesSlide11.xml" Id="R69bb3997907e4a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c5d2a5e9415b" /><Relationship Type="http://schemas.openxmlformats.org/officeDocument/2006/relationships/image" Target="/ppt/media/image4.png" Id="Rdfd746e7d99448dd" /><Relationship Type="http://schemas.openxmlformats.org/officeDocument/2006/relationships/notesSlide" Target="/ppt/notesSlides/notesSlide12.xml" Id="R1d84da4a1ba448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c1df4cfa44586" /><Relationship Type="http://schemas.openxmlformats.org/officeDocument/2006/relationships/notesSlide" Target="/ppt/notesSlides/notesSlide13.xml" Id="Rfe4660a4d67549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7bad7ed2439a" /><Relationship Type="http://schemas.openxmlformats.org/officeDocument/2006/relationships/chart" Target="/ppt/slides/charts/chart1.xml" Id="Rb096dc717c1f4e54" /><Relationship Type="http://schemas.openxmlformats.org/officeDocument/2006/relationships/notesSlide" Target="/ppt/notesSlides/notesSlide14.xml" Id="R62467d18593243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a2e100c06404b" /><Relationship Type="http://schemas.openxmlformats.org/officeDocument/2006/relationships/notesSlide" Target="/ppt/notesSlides/notesSlide15.xml" Id="R9843d9c5a35e44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59b48a7854b4c" /><Relationship Type="http://schemas.openxmlformats.org/officeDocument/2006/relationships/notesSlide" Target="/ppt/notesSlides/notesSlide16.xml" Id="Rfde4c9f7b39e49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1c8d4495b43ee" /><Relationship Type="http://schemas.openxmlformats.org/officeDocument/2006/relationships/notesSlide" Target="/ppt/notesSlides/notesSlide17.xml" Id="R3ce27a1b132e46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73d8ce4c64c80" /><Relationship Type="http://schemas.openxmlformats.org/officeDocument/2006/relationships/notesSlide" Target="/ppt/notesSlides/notesSlide18.xml" Id="R7896ef6493f64c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8672240443cb" /><Relationship Type="http://schemas.openxmlformats.org/officeDocument/2006/relationships/notesSlide" Target="/ppt/notesSlides/notesSlide19.xml" Id="R84dbdacc60e94a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6ac626ab049ff" /><Relationship Type="http://schemas.openxmlformats.org/officeDocument/2006/relationships/hyperlink" Target="https://commoncrawl.org/get-started" TargetMode="External" Id="R05bd764266e04bff" /><Relationship Type="http://schemas.openxmlformats.org/officeDocument/2006/relationships/hyperlink" Target="https://fasttext.cc/docs/en/language-identification.html" TargetMode="External" Id="R18b2f33a68834301" /><Relationship Type="http://schemas.openxmlformats.org/officeDocument/2006/relationships/hyperlink" Target="https://github.com/Data-Centric-AI-Community/fg-data-profiling" TargetMode="External" Id="R61c8ca17812b481f" /><Relationship Type="http://schemas.openxmlformats.org/officeDocument/2006/relationships/hyperlink" Target="https://github.com/OpenDataArena/OpenDataArena-Tool" TargetMode="External" Id="R2c26cdefe9f54c12" /><Relationship Type="http://schemas.openxmlformats.org/officeDocument/2006/relationships/notesSlide" Target="/ppt/notesSlides/notesSlide20.xml" Id="R0610016ed07945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数据集数量</c:v>
          </c:tx>
          <c:spPr>
            <a:solidFill xmlns:a="http://schemas.openxmlformats.org/drawingml/2006/main">
              <a:srgbClr val="156082"/>
            </a:solidFill>
          </c:spPr>
          <c:cat>
            <c:strRef>
              <c:f>'Chart Data'!$A$2:$A$5</c:f>
              <c:strCache>
                <c:ptCount val="4"/>
                <c:pt idx="0">
                  <c:v>HTML / 文本</c:v>
                </c:pt>
                <c:pt idx="1">
                  <c:v>视频</c:v>
                </c:pt>
                <c:pt idx="2">
                  <c:v>图片</c:v>
                </c:pt>
                <c:pt idx="3">
                  <c:v>PDF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206</c:v>
                </c:pt>
                <c:pt idx="1">
                  <c:v>31</c:v>
                </c:pt>
                <c:pt idx="2">
                  <c:v>30</c:v>
                </c:pt>
                <c:pt idx="3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56082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05735-40DA-4FA6-8C7E-DFA91D1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714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智能找数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AB7D0-498B-4A3A-8501-A0DF53F4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4100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数据画像与质量分析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技术方案汇报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678AA-E1F7-4EDA-AA4E-EA7EB2E9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面向数据工程师的数据发现、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比较与组合下载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ACF84-FEDA-419C-B95A-62542CAC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2026 年 9 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8E7C9-AB1F-459C-AF1A-F88F633C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10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daba7d40403f"/>
          <a:stretch xmlns:a="http://schemas.openxmlformats.org/drawingml/2006/main"/>
        </p:blipFill>
        <p:spPr>
          <a:xfrm xmlns:a="http://schemas.openxmlformats.org/drawingml/2006/main">
            <a:off x="5400675" y="1220788"/>
            <a:ext cx="6296025" cy="4197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56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A3CF8-4366-4AE4-BBEF-812DF0E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2128A-25A4-403E-BA83-B8DADB0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BFA5-D3E0-4007-A792-0D2ECC37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04100-4D46-4162-8990-2062285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技术方案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545D8-CA99-4465-B2C1-2C85FC0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95EA7-887F-42CD-B64C-D81FF9B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6207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FD6B9-A0D6-4BEE-8EEA-9590765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525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缩略语与关键术语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2AEE6-2DF4-4641-826F-0136A69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90650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数据集、样本、画像、评分与溯源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848C7-C9FC-41AE-AAE9-762CD4A6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BA4D6-2EBF-4CC5-A581-07D09CB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02497-DB48-4AC6-86F9-55068D0F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955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技术背景与现有手段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89E42-A04B-4ACB-A498-F31BD9ED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公开数据供给和工程选数问题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CD789-2DE4-403E-953F-723FB46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E6FD9-848B-4FEB-BD09-8A963526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4802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007BB-1831-4A45-82E7-272231E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385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技术方案详细阐述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42764-DE60-475A-9E0E-24008B60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数据加工、标签、质量分析与交互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F81A-6F47-4DD0-96CE-DD9788B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957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8E396-A003-4608-8397-4EC6E740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9100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FCD3-0DD4-4DA3-92D5-720BD7F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814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当前结果与技术价值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595D8-DBC0-489D-AEB6-1A70ECD7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9575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实际覆盖、使用流程和验证边界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2AA0B-2345-46BA-BB66-524A287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387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0EABC-4052-42F4-844F-4A6E69A0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D5FA3-C5F2-442C-A992-BBD353F1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24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演进计划与参考资料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89C51-D5CA-48C6-8573-976FBFE5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交付部署、下一阶段建设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69C91-1436-4FDB-8733-D3928DA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816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1010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E784B-078C-4C18-A306-BFFB7401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1.1 关键术语与对象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4CD5F-1FE9-4AAB-8252-ACB6D6D9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62890-0D5F-4EAF-9693-CDF12EF2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AF24D-E33B-4B1B-A4E2-F90B3E8A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01  术语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B62F0-A3D5-4AC8-B9A4-7CB099AF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1409700"/>
          <a:ext xmlns:a="http://schemas.openxmlformats.org/drawingml/2006/main" cx="111633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514975"/>
                <a:gridCol w="388620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对象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项目中的含义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对应工程产物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数据集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以领域、自然语言、数据类型组织的一组记录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dataset_metadata.json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样本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实际文本或原始媒体及其来源信息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records/*.json 与 raw_assets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数据画像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样本标签、规模及分布的聚合结果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标签 JSONL、画像 HTML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质量评分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按数据集记录保存的多维评价结果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四项分数、总分及扣分依据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溯源与复用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追踪采集地址、处理版本和组合来源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manifest、来源映射、校验值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E1A4A-5EF2-4A8E-B9C5-E28905E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数据集级画像与领域级画像分开生成。不同数据集保留独立分数，不共用领域均分。</a:t>
            </a:r>
          </a:p>
        </p:txBody>
      </p:sp>
    </p:spTree>
    <p:extLst>
      <p:ext uri="{BB962C8B-B14F-4D97-AF65-F5344CB8AC3E}">
        <p14:creationId xmlns:p14="http://schemas.microsoft.com/office/powerpoint/2010/main" val="1528398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21627-DC7A-45D6-AD50-D4BE514B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2.1 数据工程选数的主要问题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1ECE7-D798-44A1-999A-F30C34B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5F788-0179-40D4-A0F6-A87384B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C23F6-0E9E-4540-8B35-E66096E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02  技术背景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8895C-4DA0-472A-B2D5-EFB01140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92F3-0E8C-4856-941E-5345312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62050"/>
            <a:ext cx="1109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公开数据规模大，但数据工程师仍需逐项确认内容、质量与可用性。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111633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019550"/>
                <a:gridCol w="500062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传统工作环节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常见问题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智能找数的处理方式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按链接寻找数据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命名不统一，语言和模态难筛选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统一目录与组合条件筛选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逐个下载并抽查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只有简介，实际内容难判断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每套数据集提供 10 条内容预览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看总分选数据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缺少分项解释，分布不易比较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独立评分、三类标签图和横向比较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手工合并数据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重复文件、来源信息和标签易丢失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后台组合任务、去重与溯源归档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15DD4-1FF7-4E99-A3A8-1D8F451A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目标：让选数决策能够基于可查看的样本、可比较的分布和可追溯的质量证据。</a:t>
            </a:r>
          </a:p>
        </p:txBody>
      </p:sp>
    </p:spTree>
    <p:extLst>
      <p:ext uri="{BB962C8B-B14F-4D97-AF65-F5344CB8AC3E}">
        <p14:creationId xmlns:p14="http://schemas.microsoft.com/office/powerpoint/2010/main" val="871365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A242-95BB-4EF0-A25A-AB1ADB0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2.2 可复用技术与本项目补充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3E53A-C0ED-4FFE-AE93-91B8150E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B928-ADE7-400A-913E-2088087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5D6CD-A2EA-41CA-8ADA-DAFD626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02  技术背景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2DC85-F1DE-44D4-A715-0F5E9FD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438275"/>
          <a:ext xmlns:a="http://schemas.openxmlformats.org/drawingml/2006/main" cx="11163300" cy="4086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124325"/>
                <a:gridCol w="460057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已有技术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可直接复用的能力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工程选数仍需补充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Common Crawl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开放网页归档，WARC / WET / WAT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领域归类、样本理解和质量判定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fastText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自然语言识别模型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短文本、混合语言及媒体语言口径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 Profiling 工具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字段、缺失、重复与统计分布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领域语义标签和多模态内容关联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OpenDataArena-Tool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数据评分与训练评测工具链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本地接入、数据集证据与结果可视化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9F5D-B37D-4C85-A2DE-AC57E3C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11163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E74AF-869D-48C7-850B-35CCB9C2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本项目定位：连接公开数据、样本标签、质量证据和用户选数界面。</a:t>
            </a:r>
          </a:p>
        </p:txBody>
      </p:sp>
    </p:spTree>
    <p:extLst>
      <p:ext uri="{BB962C8B-B14F-4D97-AF65-F5344CB8AC3E}">
        <p14:creationId xmlns:p14="http://schemas.microsoft.com/office/powerpoint/2010/main" val="1644103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7F317A-B7A0-40FC-AFCA-9A40072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3.1 总体工程架构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3707A-3237-4BE4-8341-6FCAD38C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2891-86D5-47AD-A2DB-84EDE2A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3444A-9383-4494-BD4A-CCCA2270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04BA2-1ACA-4A34-A728-11AD41E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836B2-9943-404D-862D-CEC8C61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26F5-F4A3-4900-B71F-6A9A7FD3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19200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A. 离线数据加工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8EDB-5B18-4EFA-A71B-CC752CF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BC039-85F8-44E2-90FC-674D22E6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62150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公开源接入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1FBCE-6D0A-492D-A25E-A17A54C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67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网页 / PDF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图片 / 视频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4FE50-E5BF-4FBA-B071-F36C58E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05B42-37AD-49CB-B54C-E906526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2CFD1-D018-4BEA-B6C9-6274367A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90775"/>
            <a:ext cx="2571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19ACC-4E13-42E5-B6E2-9FED658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1927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AC3B4-604A-469D-8A23-A1666AF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62150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规范化与溯源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E672-A3E2-445A-9B87-865F1D27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67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正文或媒体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元数据与校验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93447-8C98-493D-BA35-1AE87FD3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B4E45-1F72-427E-9915-820B9DC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14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81F07-22EB-4B09-9459-C961A91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2571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11CFB-0D2B-4BCD-9ED2-B4A1D15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1927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4D8E8-52ED-4C75-B359-EFD126C3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62150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样本标签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088A5-FD86-4E86-9D5E-1380FDF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67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领域配置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证据与版本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BAAFC-CED8-4C86-9D05-C05F0D6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93AAA-A212-43CF-8E61-BE02FC8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44578-8B53-4FB3-967E-289F833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90775"/>
            <a:ext cx="2571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3CDA5-29B1-486E-AE0B-A56FD8F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1927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4CD8C-29A1-4FB1-9714-EE186EF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质量评估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3CF3B-BE43-4FF1-81EE-3A4A8D8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81250"/>
            <a:ext cx="167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四项分数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指标与风险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EBDA85-5AFB-46A5-8D8B-B34700FD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9E031-55BC-4BE5-A166-9387FED2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14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9EA6C-58E6-4673-9E51-7374EE19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90775"/>
            <a:ext cx="2571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07CF5-2C3B-44EF-8067-7B3FF09E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19275"/>
            <a:ext cx="1943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43F3B-8D23-461E-8053-0F690B04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62150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目录与报告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98DA3-CFD9-4C5D-9437-1A694DE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676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独立画像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领域聚合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6388B9-A843-4902-ADB3-E0BBA9F7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858E0-C62D-4375-98B6-8C5FA0D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14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A7CEE-1124-45AC-BD84-461BF62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8BB46C-006B-43A3-8083-A2143133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8617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B. 面向数据工程师的在线使用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C0ED67-5851-48B9-AC7F-0E23B4CC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C7A7A8-41E7-4F49-9793-651E75AD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386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一句话找数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B36B04-CB5B-4248-AFC8-D4F6CE4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规则匹配与筛选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77173E-1CF8-403A-AE5B-E9806B68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2440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CECA6A-7C93-4096-9FBF-55EBEE6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9577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156E02-8C8D-4AB4-BEC3-1A52206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386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查看内容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07859D-404C-4717-9672-3AC5F3C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真实样本与画像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554D82-F2ED-4D8F-B646-80773FD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B3582-8ECB-42C2-877F-0C01974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9577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F387F8-654F-48A8-A520-482E23B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386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多选比较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C833D9-C840-4CC6-AD9B-6997013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质量与三类标签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4F802D-E592-42CD-87E2-A6C15C9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2440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6C0EEB-32C3-4E57-BFFC-6064F59A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29577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A631C1-F825-49FF-BE3B-524CA7A9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组合下载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C5B482-212E-4DB1-8C71-81BD4386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8577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任务、校验、结果包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7034B0-7C49-419D-9BA7-0D780BC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统一主键 datasetName 连接目录、预览、独立报告、分数和组合任务。</a:t>
            </a:r>
          </a:p>
        </p:txBody>
      </p:sp>
    </p:spTree>
    <p:extLst>
      <p:ext uri="{BB962C8B-B14F-4D97-AF65-F5344CB8AC3E}">
        <p14:creationId xmlns:p14="http://schemas.microsoft.com/office/powerpoint/2010/main" val="1830348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DD976-9FBF-446C-AAD3-E3B591C1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3.2 数据内容与元数据处理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45A7-5DEE-46CA-94A8-D8C47F4C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665D5-5758-4E11-9325-FB38739A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E00E2-FBB2-4D2A-BC69-330170F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2E039-A7AB-4F2D-A349-265CA894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1C007-84C4-4ED5-B2C9-A10AAC45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71437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40B57-D973-469E-AD00-CA0BB6C3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输入与加工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7DB49-D1B7-498E-844B-AAA918D8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19200"/>
            <a:ext cx="3743325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983B-08F2-4E7F-9AC6-B66038AB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76350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异常与可追溯结果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79BCE-4849-4E07-95DD-50E67DAC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7341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29245-03FE-4E12-A0CA-66E4EA2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28825"/>
            <a:ext cx="6486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输入资源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1B61C-9634-4D81-B9CE-E8FB3DFB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6467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URL 清单 / 归档记录 / 媒体地址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1C58F-F1B8-41DE-AE4A-5036B8C1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DC386-901B-409D-BD17-0249B5F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D436B-F91D-4129-BF09-0D3B74A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67025"/>
            <a:ext cx="238125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EF5E4-3CC4-41D6-A826-96B4F8D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67341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6FE32-6FFC-4C0C-8C58-DCC0A931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9950"/>
            <a:ext cx="6486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内容与元数据对齐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9409D-3DC9-475D-B55C-2BCA446A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6467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正文或原始文件、采集时间、来源、许可、robots 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73ED4-8E07-4A09-A6B0-5FAE501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DAAFA-C9C0-45A2-A0FB-2AB6AC1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9C86B-830E-48D7-858B-5ED15807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238125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CF519-F1EE-4662-B48C-56B2AD5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67341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20850-2D13-4B23-8E1F-F05464F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14900"/>
            <a:ext cx="6486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文件与记录校验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57F10-7DD8-459F-BEBA-DF2AFC59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646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路径存在、媒体头、内容哈希、记录关联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B9B92-5E0C-4BD2-BE8F-6CFFFB2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DBD75-99CC-4945-B968-60C7BFB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174F3-F1FE-4032-AED2-A5815D41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95475"/>
            <a:ext cx="3733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E65259-C486-4B92-8C98-8FDB7E16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383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失败记录保留原因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1964B-F8C1-489F-B18F-C2045E7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339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网络、权限、路径缺失和解析错误单独列示。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DE208-2B59-4307-BE6F-73005CB3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81375"/>
            <a:ext cx="3733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CA78E-EB03-491B-922C-8B5C61B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242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风险与准入状态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5C3A2-923C-4574-8E5A-9979925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33825"/>
            <a:ext cx="3390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保留爬虫协议与许可原始证据。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未知状态不表示已授权。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0D928-625C-41DF-A419-6654624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48225"/>
            <a:ext cx="37338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E5AD7B-A605-4A8E-9A34-39DF43F2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9911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输出组织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580A73-A976-4E86-8269-8599065F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0067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领域_语言_数据类型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记录与原始资源分别存储</a:t>
            </a:r>
          </a:p>
        </p:txBody>
      </p:sp>
    </p:spTree>
    <p:extLst>
      <p:ext uri="{BB962C8B-B14F-4D97-AF65-F5344CB8AC3E}">
        <p14:creationId xmlns:p14="http://schemas.microsoft.com/office/powerpoint/2010/main" val="709182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9F80C-C1A6-4AD8-AA76-0862BF0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3.3 样本级语义标签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A3BB-1DDC-441A-AF0C-AF566D4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03EE8-F2AA-429E-90F3-0A970949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D24D1-98F6-49C8-BB15-E72951D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2AE43-6BD2-421C-BF8A-9054BE35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E3716-43F4-4ACB-A4FC-70AF10F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71600"/>
            <a:ext cx="2352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FDE1A-95DD-4F27-9793-7A70CF2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内容读取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77A27-780B-423C-A096-2C07EDDA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正文 / 字幕 / 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5F623-9616-47E8-9769-00528D3A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4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ADC04-8DA2-4F2A-91EF-F2D6FA32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668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78021-8EAD-47B6-91F4-6DE8163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771650"/>
            <a:ext cx="2667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14701-69ED-41A3-AC33-2D39646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371600"/>
            <a:ext cx="2352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87236-B327-471C-AD9E-F196D28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1447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实体与语义匹配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9D07B-EA71-4DE1-A7E1-F37CF008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词典 / 名称 / 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65C8C-E4CB-4D9E-9056-7DAE1BC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4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7DD1A-B5FE-436A-A499-2E1CC168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668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64F67-8934-4F53-A3FD-BD5B6D2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71650"/>
            <a:ext cx="2667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015C9-36C8-4B86-9626-ABD749E0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371600"/>
            <a:ext cx="2352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8F7CE-C726-470A-93C9-1A371C0F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1447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证据分级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A697B-02AD-4B26-B623-E65B6F4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335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直接命中 / 关联推断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E3811-6897-4E23-A1CC-65524059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4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E0FDE-E3D1-47B2-958D-5F4DA7E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668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E7D76-CBA1-4A82-ABE4-69757A63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71650"/>
            <a:ext cx="2667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8E771-A013-47CF-8F8E-913123D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371600"/>
            <a:ext cx="23526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1A88E-1E77-4E62-97CC-8728EBD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1447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样本标签落盘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BD6CF-C08F-496C-90ED-6959BDE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9335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标签 / 方法 / 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72F34-7C7E-4AEE-B155-B84B580E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24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BD3B3-6C9C-4CFE-84FC-3FF01FF7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2668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graphicFrame>
        <p:nvGraphicFramePr>
          <p:cNvPr id="59" name=""/>
          <p:cNvGraphicFramePr/>
          <p:nvPr/>
        </p:nvGraphicFramePr>
        <p:xfrm>
          <a:off xmlns:a="http://schemas.openxmlformats.org/drawingml/2006/main" x="514350" y="2914650"/>
          <a:ext xmlns:a="http://schemas.openxmlformats.org/drawingml/2006/main" cx="111633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971800"/>
                <a:gridCol w="2981325"/>
                <a:gridCol w="29718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领域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核心标签一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核心标签二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核心标签三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电影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电影类别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剧情主题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主创姓名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教育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学科主题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教育阶段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学习活动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文学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文学体裁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叙事主题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人物关系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6EBDB-3FB9-45CF-98EF-771B24F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2452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直接匹配与推断补标均保留方法和证据。补标覆盖率不能替代标签准确率。</a:t>
            </a:r>
          </a:p>
        </p:txBody>
      </p:sp>
    </p:spTree>
    <p:extLst>
      <p:ext uri="{BB962C8B-B14F-4D97-AF65-F5344CB8AC3E}">
        <p14:creationId xmlns:p14="http://schemas.microsoft.com/office/powerpoint/2010/main" val="560657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BC59F-48F3-4B09-AEE5-D96D868E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3.4 数据质量评分机制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4A796-832A-4A0F-8EE6-C8196223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0ABBF-5685-425F-8581-5CBDC7E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5DD73-E5AD-4285-8D3A-EC1C256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05F20-BDBD-4315-8554-F3E5CB5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295400"/>
          <a:ext xmlns:a="http://schemas.openxmlformats.org/drawingml/2006/main" cx="111633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5381625"/>
                <a:gridCol w="307657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评分维度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主要技术与观测信号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解读边界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DataScope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数据质量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词汇多样性、异常字符、重复与空值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媒体头校验、内容可用性、元数据完整率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完整性与规则质量信号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OrganizationScope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数据合规性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许可字段覆盖、Schema 与存储规范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隐私实体和内容风险规则扫描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规则筛查，不是法律结论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ApplicationScope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数据应用价值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文本长度、标签与结构覆盖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规模、来源及任务适配代理指标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未执行实际增训效果测量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OpenDataArena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本地适配评分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样本信息密度、多样性、血缘</a:t>
                      </a:r>
                    </a:p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开放复用与应用适配代理指标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不是官方 benchmark 分数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6A6E6-2CCF-4310-A798-8464BB5C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当前归档总分 = 25% 数据质量 + 20% 数据合规 + 25% 应用价值 + 30% ODA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8273-EC4E-4FF4-A60F-1E48B1BD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页面等权 25% 的说明与归档权重尚未统一，正式评审前需固定评分版本和口径。</a:t>
            </a:r>
          </a:p>
        </p:txBody>
      </p:sp>
    </p:spTree>
    <p:extLst>
      <p:ext uri="{BB962C8B-B14F-4D97-AF65-F5344CB8AC3E}">
        <p14:creationId xmlns:p14="http://schemas.microsoft.com/office/powerpoint/2010/main" val="1955814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A1F48-8FBC-4E96-81F9-F0A45B1F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3.5 画像报告的生成与关联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325E9-AE43-4213-98EC-5E84F72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5CBA2-2605-4431-8132-7D252F0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2ABA4-148C-4A6C-B909-75CE26E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CE4DC-CEC8-4DBC-8D70-C549A9D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2a5bd0437489d"/>
          <a:stretch xmlns:a="http://schemas.openxmlformats.org/drawingml/2006/main"/>
        </p:blipFill>
        <p:spPr>
          <a:xfrm xmlns:a="http://schemas.openxmlformats.org/drawingml/2006/main">
            <a:off x="552450" y="1411288"/>
            <a:ext cx="6267450" cy="4178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24C6A-25AB-4DA7-8FD6-11A90D1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45148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5547C-4D01-4BE1-9AE4-43F569D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335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独立画像生成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9ABE7-7554-4552-841A-17CB081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按 datasetName 读取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F090E-85BD-4D9C-BEF3-C472273E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4133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仅统计当前数据集记录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0EC3F-2BFD-4AA4-B01E-CCAAA6B3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聚合分布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79E18-12A3-40AB-8052-377D5874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4133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标签、语言、模态和规模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CD353-D7F0-49A2-8569-9518A50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81425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关联质量结果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31B32-69BE-443F-ABCC-72A0687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62425"/>
            <a:ext cx="4133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独立分项分数及风险说明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C46D3-A45D-4019-BD17-EB588C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生成静态报告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AAD96-433E-433C-A3FA-FB98494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33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目录链接到本数据集页面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4AC32-A8C6-4BB5-9C0F-AFAD1DA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当前覆盖电影 52 套、教育 16 套、文学 18 套，共 86 份独立报告，另有 3 份领域报告。</a:t>
            </a:r>
          </a:p>
        </p:txBody>
      </p:sp>
    </p:spTree>
    <p:extLst>
      <p:ext uri="{BB962C8B-B14F-4D97-AF65-F5344CB8AC3E}">
        <p14:creationId xmlns:p14="http://schemas.microsoft.com/office/powerpoint/2010/main" val="1880861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5B6CE-E61A-4CCE-880D-E2B4FE3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3.6 智能找数与内容预览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451C3-1165-4184-8F2C-A00B7C9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32F41-EBBF-4137-843A-B92368E8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99084-988B-45E5-832B-946678B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39A3C-306A-4984-BBED-A4AFF91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9E18F-3744-47E8-894E-065D7C05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输入示例：中文电影视频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03CFE-DE99-4967-91C5-6D392D1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当前采用确定性词条解析和筛选条件联动，不依赖在线 LLM。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c2cd816f4457a"/>
          <a:stretch xmlns:a="http://schemas.openxmlformats.org/drawingml/2006/main"/>
        </p:blipFill>
        <p:spPr>
          <a:xfrm xmlns:a="http://schemas.openxmlformats.org/drawingml/2006/main">
            <a:off x="533400" y="2396283"/>
            <a:ext cx="7658100" cy="311318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A8BD3-33A7-444F-9B28-A404B6C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52650"/>
            <a:ext cx="3209925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743A-3635-43E8-AC53-A77E1685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匹配与展示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34D9A-9586-452D-B0A3-8FD41B6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0350"/>
            <a:ext cx="295275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领域 / 语言 / 类型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总分与存储规模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每套 10 条样本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画像与来源链接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49-02DD-405C-9514-312B176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文本展示实际内容，图片与 PDF 使用本地样本，视频提供可播放的短片段预览。</a:t>
            </a:r>
          </a:p>
        </p:txBody>
      </p:sp>
    </p:spTree>
    <p:extLst>
      <p:ext uri="{BB962C8B-B14F-4D97-AF65-F5344CB8AC3E}">
        <p14:creationId xmlns:p14="http://schemas.microsoft.com/office/powerpoint/2010/main" val="11108179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306CA-D851-4FFF-AE87-C6F643A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3.7 多数据集横向比较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0D63E-7143-4F82-B9A2-158FDFC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FF447-7F77-4D59-8127-BFC3D50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AF0AE-6FCD-48D3-B31C-0D543E9D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2B577-B90F-4A9D-8E68-6DBBE13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746e7d99448dd"/>
          <a:stretch xmlns:a="http://schemas.openxmlformats.org/drawingml/2006/main"/>
        </p:blipFill>
        <p:spPr>
          <a:xfrm xmlns:a="http://schemas.openxmlformats.org/drawingml/2006/main">
            <a:off x="793820" y="1295400"/>
            <a:ext cx="7013436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EF364-313C-4245-A566-B7C7C30A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00175"/>
            <a:ext cx="32766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D3AEF-EEBC-4530-8D5D-0FB6E04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可比较的信息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61AE9-02A9-414D-A47E-8C1D374A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33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规模、语言与数据类型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总分与四项质量分数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三类样本标签分布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C60C2-9BE5-40D9-812D-3A1B79E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90925"/>
            <a:ext cx="32766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3E566-2C64-4FC4-8862-E98FBE1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比较口径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2B785-4E4B-462A-AE86-7BB22A14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2933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每次选择 2–4 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同领域标签维度一致，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保留各自的样本分布。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A3602-4A4E-43D8-B1C8-EC749A6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比较结果可用于理解内容差异，不以总分代替实际样本和标签分布。</a:t>
            </a:r>
          </a:p>
        </p:txBody>
      </p:sp>
    </p:spTree>
    <p:extLst>
      <p:ext uri="{BB962C8B-B14F-4D97-AF65-F5344CB8AC3E}">
        <p14:creationId xmlns:p14="http://schemas.microsoft.com/office/powerpoint/2010/main" val="1084026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60B51E-08E7-4D4F-ABD4-D993E981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3.8 数据组合与下载链路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6998-A78D-49A8-AB6E-FB0B4A44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B3B39-D200-4FD0-8A8B-AFA1500C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EEB0E-EEA5-4A1E-B53F-654AF107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03 详细方案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C2C7-03BF-46D9-A3FE-00B2703F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0043-313C-4AD3-AC42-D4B2C9B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412DF-1C8E-4B5F-A0DD-65E7D40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任务提交与执行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232F3-3BA2-4127-8B0F-89B2E7DA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24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E88DE-5BF6-49FF-9C36-6E84727A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选择数据集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7C43-E54C-4186-9523-E91D8A3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2–4 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80D66-B051-48F0-84AC-30D785E4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16FB7-B509-4AC6-B097-C941C04A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7F26A-FD1D-4D49-99A9-B4881805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812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94BF1-9A8B-4DDA-A86B-71FF6B7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52625"/>
            <a:ext cx="1924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9BD0-B339-42CD-82B7-4120E663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955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配置任务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47EA8-13E2-4921-A659-31EED0D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1460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数量 / 输出名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C2A89-CDDB-42DD-BC6F-653CD2B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21B05-9828-4E4E-BDE3-8F9E45AE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47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DBEEF-9E9C-4C66-B05E-6C07837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0F643-5488-43B9-8B85-CB67A423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924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24691-F571-4007-B3D0-9C418CC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后台读取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F4A69-6010-4D42-BBC0-EF7E819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实际记录与媒体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E34E3-AB32-4CFD-87EC-12B0228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5E51D-C065-450D-82CE-CB88C441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4BB8E-1240-41B4-8658-1186A403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812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DD9B9-4166-4EA1-AD62-ECF9405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52625"/>
            <a:ext cx="1924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1C752-7567-4167-9D77-D7F1A97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校验与去重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844FB-3035-4639-8553-96E0332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1460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文本及文件哈希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BD49D-1C6A-4D10-B9BF-08482F33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DD082-339F-484A-9F98-AB3915D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47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5DA9F2-DAD3-42B3-8212-05FC684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1C276-0792-4F3B-A2EA-2E7F47D8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924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DDC1C-7CBE-4684-83AF-75522F4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9550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生成结果包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D2D992-77EB-4F0E-8C8D-7A8BD99F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1657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ZIP 与清单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DB4CF4-DC3F-4137-8903-6A8B3CC2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C4119-CA8C-4740-A384-2424636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478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76411-D3F4-438F-9639-154D90F2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38550"/>
            <a:ext cx="5238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E53B9-A9C1-4797-987F-7BAFB19E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8142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内容输出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9321D2-420E-4DDA-B068-252085A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91000"/>
            <a:ext cx="4895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records：合并后的完整记录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assets：实际图片、视频和 PDF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labels：保留可关联的样本标签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3FF9CA-35AF-4CD2-90BE-BE5CB44E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5524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139270-FE1C-404B-A17B-8001EB0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过程记录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E08D8-E6D4-40C1-B4C0-53AEAE4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51816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manifest：来源与数量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reports：校验、失败和分布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任务支持状态查询与取消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E48AE-BF35-4C93-8ADD-C3F6223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缺失原始资源或校验失败会记入结果报告，不以占位文件替代实际内容。</a:t>
            </a:r>
          </a:p>
        </p:txBody>
      </p:sp>
    </p:spTree>
    <p:extLst>
      <p:ext uri="{BB962C8B-B14F-4D97-AF65-F5344CB8AC3E}">
        <p14:creationId xmlns:p14="http://schemas.microsoft.com/office/powerpoint/2010/main" val="2051869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2C800-C07E-494A-987F-9A814100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4.1 当前数据覆盖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BB9D6-8E49-42EC-9B23-A0F6CF1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BDF2-C879-44F4-A8AF-01971F1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35EC6-84D7-4478-985C-CB520BFB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04 当前结果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B782D-3781-494A-B39C-4EC40486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D678B-7084-4F0E-83B0-EADD773E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02C10-CB2F-4356-AB21-B959F36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812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数据集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BF25B-CADF-4B7E-A8D4-921458C1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32397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85.5 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942D7-05FE-43BD-AEB7-C11D979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目录记录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CAE27-7FF7-4081-A148-4A622147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2397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FC259-A57C-4CA5-A859-617D90DC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812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领域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F3C72-8E7A-4CAE-ADAE-0050FF71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32397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204.23 GiB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E3DF8-B2AC-44D9-A89E-E4AB2D65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812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逻辑存储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0C31A-8144-404C-8AEF-24FBF3C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04825" y="2857500"/>
          <a:ext xmlns:a="http://schemas.openxmlformats.org/drawingml/2006/main" cx="7058025" cy="2867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96dc717c1f4e5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5C8B-957C-4221-AFAC-F8BF9C0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38475"/>
            <a:ext cx="3476625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13 种已识别自然语言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另有未识别语言类别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4 类数据类型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每套目录记录 3,000 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45AA0-97E9-410E-94DD-30BF45C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记录数量与逻辑存储可能包含重复引用的媒体。独立内容规模需按哈希另行统计。</a:t>
            </a:r>
          </a:p>
        </p:txBody>
      </p:sp>
    </p:spTree>
    <p:extLst>
      <p:ext uri="{BB962C8B-B14F-4D97-AF65-F5344CB8AC3E}">
        <p14:creationId xmlns:p14="http://schemas.microsoft.com/office/powerpoint/2010/main" val="1613248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61FCE-5330-48DF-83C1-8D71CEDD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4.2 数据集级质量结果示例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44062-0700-4CD4-84C6-4643653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1B291-E075-4FF7-AF20-5A8F168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EC299-3E93-49F8-B70F-FEDB6D45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04 当前结果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CADBD-ED10-4FEF-8FEC-5D9E539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111633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52925"/>
                <a:gridCol w="1362075"/>
                <a:gridCol w="1362075"/>
                <a:gridCol w="1362075"/>
                <a:gridCol w="1362075"/>
                <a:gridCol w="136207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数据集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总分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质量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合规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应用价值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ODA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movie_German_image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87.65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82.78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84.40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94.32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88.32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education_Chinese_image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97.86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100.00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100.00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98.62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94.03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literature_English_image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97.50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100.00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100.00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97.18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94.01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884F2-CD89-4BF3-A2A0-C5F5A82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362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AD1AE-4445-41C7-AD2A-63B74E5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501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评分用于定位差异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03D95-2105-48A2-BA49-618AA71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019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同一领域的不同数据集独立评分。电影样例总分 87.65，提示需要关注分项短板。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F10D6-64C7-4947-8D4A-92816FFE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55149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3D5CE-8422-4A78-B377-47BFEF0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95825"/>
            <a:ext cx="517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结果用途与限制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56701-B8D0-4D7D-80AC-F9F9912F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51720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分数帮助筛查候选数据，仍需结合实际样本、标签准确性与使用权利确认。</a:t>
            </a:r>
          </a:p>
        </p:txBody>
      </p:sp>
    </p:spTree>
    <p:extLst>
      <p:ext uri="{BB962C8B-B14F-4D97-AF65-F5344CB8AC3E}">
        <p14:creationId xmlns:p14="http://schemas.microsoft.com/office/powerpoint/2010/main" val="19949398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293B67-1C33-4AE6-973C-72FB9B4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4.3 用户使用流程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76E43-6E8B-418A-8D2D-4F697C34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E6371-F3B2-470E-A772-A1DBF90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3D276-BDD3-471B-ABAB-97CC547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04 当前结果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113B-84E5-4D33-B570-FCBCC44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FCB72-4989-4B48-8C80-AD4B55C4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2352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6E402-621B-4BBF-BE0A-4FE0DDE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812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定位数据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01D5B-6909-4518-8903-6F9A1B7A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输入“中文电影视频”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筛选领域、语言和类型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ADE3D-0878-463B-AB91-730022A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E93FC-8608-4CA0-91B7-703A80F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AFC34-B003-4067-B443-AE210AE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9080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AA1E4-A021-4A0A-9300-B72919C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38325"/>
            <a:ext cx="2352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18F08-7ECF-4E52-A24D-370BFF66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812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查看证据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4AB03-A4CE-446F-B07F-D59545A7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打开样本预览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查看独立或领域画像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451BE-AD16-4DBA-9511-315D2754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CCBE4-BA5F-461A-9618-A3C5C698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2E12B-24F4-47C3-BC32-71282982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9080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6C2FD-27AD-4515-83B6-EFA2B87D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38325"/>
            <a:ext cx="2352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A46E5-8FEC-410A-A198-20CC1157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812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比较差异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1B746-D905-46AC-B9C8-10FDE90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勾选 2–4 套数据集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对照评分与标签图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A3209-6296-49AC-84D7-AD814DD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81FD2-E012-4034-A925-DFF9A33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E0AE7-3E02-47C0-9ABC-47BC127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9080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161A6-1DD5-4339-9256-A3DD58BC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38325"/>
            <a:ext cx="2352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EEA-458E-4738-A986-36A2B23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981200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获得数据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24BED-F8D2-4B46-9D0B-8E37F33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创建组合任务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查看状态并下载 ZIP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D1072-5B9C-419A-9E88-5BAF5EFE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1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978D8-6CA0-45EB-8262-259A666A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716F1-6CFE-4C0C-A523-A4A00CE7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2F413-E1C4-44BB-84A4-6D92AD26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用户得到的输出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96BEC-8138-4962-82CC-912ED41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候选清单与指标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F3536-167A-44D6-80F4-E1EE15C3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38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画像报告与分布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1C613-6E86-475A-90DF-7E3B288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38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真实内容预览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BF1AC-7DCA-4FE7-8672-465E2C2F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38700"/>
            <a:ext cx="2371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带溯源的结果包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F40171-6DE7-4AF4-B10F-905B7CCF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筛选与查看报告在浏览器中完成。组合下载由本地服务读取打包后的实际数据。</a:t>
            </a:r>
          </a:p>
        </p:txBody>
      </p:sp>
    </p:spTree>
    <p:extLst>
      <p:ext uri="{BB962C8B-B14F-4D97-AF65-F5344CB8AC3E}">
        <p14:creationId xmlns:p14="http://schemas.microsoft.com/office/powerpoint/2010/main" val="20491466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DD950-6A16-494F-B5F1-4981CE70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4.4 可迁移交付与部署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9D35B-37B7-48C9-A2FE-A101453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CD63-19EA-47E2-ADCB-2EA4A13E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33DEF-4CF2-43BF-BF20-CD7AD67C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04 当前结果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89425-4AC2-4944-8F97-16DEB26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729D1-47AE-40FA-B72C-6FB9AD3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CB901-A209-4073-9900-06D278B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57300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目标电脑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A99D1-63C5-472A-94A1-02EE542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714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B2A8D-1D1C-43E0-83FE-4B422656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66925"/>
            <a:ext cx="346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浏览器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2D736-29BC-4730-BF2A-C9F411F3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3448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目录 / 画像 / 预览 / 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D8E23-D9AE-445E-951E-E2E6643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409C9-FD3A-490D-B601-987C5DE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2AEC6-B03B-44F6-93E6-4D862E0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6381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1F228-608D-4D0D-A36D-8F865A6C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28800"/>
            <a:ext cx="5695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EC779-5E8D-46D1-993F-5A43E01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71675"/>
            <a:ext cx="544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本地启动服务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DDE0E-5C06-45F3-8A9D-90718EDA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90775"/>
            <a:ext cx="5429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Python 3.10+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本地端口与组合任务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541AA-3B21-4CE8-9F99-EC528FD7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04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283D2-71B8-4860-845B-F29D9350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240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7F92E-6D70-4C90-8918-AFD1942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3372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69C5D-29B1-43F0-B4DA-7BCEA79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62350"/>
            <a:ext cx="772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0F3CD-F9CB-41C6-B0DB-E34685B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2286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02958-8290-43A1-B6F5-66839A2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81400"/>
            <a:ext cx="2286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68612-0503-42BA-A7EB-CAF7A85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81400"/>
            <a:ext cx="2286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9F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4A403-7D15-4E1A-AED9-817F128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E87DD-979C-496E-8351-A5DDCE47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57650"/>
            <a:ext cx="318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网页与报告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2EF99-43E2-4357-9BA2-47C2207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静态 HTML / 图表 / 样本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71A4F-EECF-4015-808F-C2A24DE3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14775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D8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E3674-BA9E-49C4-9C50-7F9EB5C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318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记录与媒体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D6DDE-F775-4D27-B0DD-75C973B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767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逐条记录 / 去重资产库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76374-353C-4B16-B22C-2FFB832C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14775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22B12-1572-498E-948D-654BE676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318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索引与任务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B08EA-32D0-4299-AD07-8EAF0D7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映射 / 标签 / 结果包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D18668-A28B-4B30-A0D8-D706CB53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核心浏览、报告、比较、预览和组合下载使用包内资源。外部来源网站链接仍需网络。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2E213-2AB7-45EC-AC7B-35847F0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迁移原则：相对路径引用，原始数据保留，按内容哈希复用重复媒体字节。</a:t>
            </a:r>
          </a:p>
        </p:txBody>
      </p:sp>
    </p:spTree>
    <p:extLst>
      <p:ext uri="{BB962C8B-B14F-4D97-AF65-F5344CB8AC3E}">
        <p14:creationId xmlns:p14="http://schemas.microsoft.com/office/powerpoint/2010/main" val="625718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80FC7-6033-4B6C-A539-4B78CB3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4.5 两个关键技术点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004A3-57F8-4389-B7FE-B11F411B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7C69-E281-4D33-8959-235D051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16F17-8FE7-4775-8A75-B663BA66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04 当前结果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D5CE0-E20B-4408-BCFF-86F7C7E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7B7A1-9E9E-47ED-B584-C4CA68C7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E12B-25A9-4132-B4C1-119044C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技术点一：按样本证据构建数据集画像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D1636-C176-4E68-8867-2058490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记录主键与标签证据绑定，逐数据集聚合核心标签分布，再关联独立质量结果。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F3404-2645-4DF1-90FE-9BC0EE8C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734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解决：只有数据集名称与简介、看不清内容分布和分项差异的问题。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D1C75-58A9-4DE9-B9C2-460B391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C803B-8A1B-4666-B3D1-79D7087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技术点二：目录、报告与数据交付使用同一套关联关系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338BB-3CE9-4748-AA09-072BA0C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datasetName 贯穿筛选、样本、报告、评分及组合结果，文件哈希保证内容可定位。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D9DDD-5A7A-4D98-9A41-6FA022A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734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解决：页面能看到数据，但报告错链、原文件缺失或导出后来源信息丢失的问题。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C3BCA-3C39-4DE8-9926-9559AD76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当前技术收益通过功能链路验证。尚无受控的人工节时比例或模型增训收益结论。</a:t>
            </a:r>
          </a:p>
        </p:txBody>
      </p:sp>
    </p:spTree>
    <p:extLst>
      <p:ext uri="{BB962C8B-B14F-4D97-AF65-F5344CB8AC3E}">
        <p14:creationId xmlns:p14="http://schemas.microsoft.com/office/powerpoint/2010/main" val="12533271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6E70C-8A5F-4ED4-A5ED-BBCED6C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5.1 下一阶段建设与验收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67A0F-1B65-43CB-B0FC-88031111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C8F28-EAE5-4E90-84F6-F31C13D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4416-9604-45CA-AD3F-1E98483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05 演进计划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A229D-20E3-479C-96B0-C8A1A38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1438275"/>
          <a:ext xmlns:a="http://schemas.openxmlformats.org/drawingml/2006/main" cx="111633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4476750"/>
                <a:gridCol w="433387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建设重点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后续工程工作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608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可验证的验收条件</a:t>
                      </a:r>
                    </a:p>
                  </a:txBody>
                  <a:tcPr marL="133350" marR="133350" marT="114300" marB="95250" anchor="ctr">
                    <a:solidFill>
                      <a:srgbClr val="DCE7F3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评分口径统一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固定权重、版本与评估数据快照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页面总分与后端计算逐项一致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标签准确性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分领域抽样审查推断标签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记录准确率与主要误差，不仅看覆盖率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领域扩展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把 86 套独立画像扩展到其余数据集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每套报告可追到对应记录和证据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训练价值验证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建立任务集与固定模型对照试验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独立报告训练前后收益及代价</a:t>
                      </a:r>
                    </a:p>
                  </a:txBody>
                  <a:tcPr marL="133350" marR="133350" marT="114300" marB="95250" anchor="ctr">
                    <a:solidFill>
                      <a:srgbClr val="F2F4F6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生产化服务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权限、对象存储、队列与后台调度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9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独立压测、恢复演练与持续运行日志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4DD3-D774-4935-B3A8-A69F7DA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15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以上为建设计划。当前交付是本地可使用系统，不代表已完成生产 SLA、全量权利审查或模型效果验证。</a:t>
            </a:r>
          </a:p>
        </p:txBody>
      </p:sp>
    </p:spTree>
    <p:extLst>
      <p:ext uri="{BB962C8B-B14F-4D97-AF65-F5344CB8AC3E}">
        <p14:creationId xmlns:p14="http://schemas.microsoft.com/office/powerpoint/2010/main" val="8265811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6AFAE-D33A-48C8-B5CD-DC45843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182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5.2 交付内容与参考资料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AD82-AEC8-4950-BB28-64042A83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29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D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E2907-9C03-4FEE-BA8B-01C87DC8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智能找数 · 技术方案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166D7-30B9-41E8-885E-24279A0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86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rPr>
              <a:t>05 演进计划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E973D-75C8-429A-B06E-48100D41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975E9-E245-45C0-9EF4-A9CE396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5B121-878D-454F-8DE5-0A109B1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本次交付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877A1-FBA7-406D-9DA9-4DE755F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19275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技术方案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FCA7E-BB6B-4F06-8D6A-B84E4BA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95475"/>
            <a:ext cx="678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可编辑文字、表格与工程流程图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EDB18-0E9C-430A-8926-A87CBEE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95550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智能找数迁移包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6605C-368E-4F5A-8317-4760C6A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71750"/>
            <a:ext cx="6781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网页、画像、预览、数据依赖和本地启动说明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32FF5-CD27-4A23-8A10-A00D048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11163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EADA"/>
          </a:solidFill>
          <a:ln xmlns:a="http://schemas.openxmlformats.org/drawingml/2006/main" w="14288">
            <a:solidFill>
              <a:srgbClr val="1F29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E4703-057C-4A58-8C04-1F5EE58D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64B12"/>
                </a:solidFill>
                <a:latin typeface="Noto Sans CJK SC"/>
                <a:ea typeface="Noto Sans CJK SC"/>
                <a:cs typeface="Noto Sans CJK SC"/>
              </a:rPr>
              <a:t>技术来源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B3D6F-AA84-42DA-8CD5-9A80F49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Common Crawl 数据访问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41758-FF3B-4E8F-9A11-675E9CD5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91000"/>
            <a:ext cx="7400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5bd764266e04bff"/>
              </a:rPr>
              <a:t>https://commoncrawl.org/get-started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AC4FB-5C3C-42B9-A4DD-9C471E5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fastText 语言识别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458A8-985F-4DD4-86ED-0615205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57725"/>
            <a:ext cx="7400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8b2f33a68834301"/>
              </a:rPr>
              <a:t>https://fasttext.cc/docs/en/language-identification.html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0BB94-FDE3-4E6A-88AD-E2F0467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数据 Profiling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673D1-2918-4072-8FD6-503E10A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124450"/>
            <a:ext cx="7400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1c8ca17812b481f"/>
              </a:rPr>
              <a:t>https://github.com/Data-Centric-AI-Community/fg-data-profiling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40350-71E1-4ED9-AEA3-EE74E92A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56082"/>
                </a:solidFill>
                <a:latin typeface="Noto Sans CJK SC"/>
                <a:ea typeface="Noto Sans CJK SC"/>
                <a:cs typeface="Noto Sans CJK SC"/>
              </a:rPr>
              <a:t>OpenDataArena-Tool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7433D-B0B2-4AB4-BF74-C57B05F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591175"/>
            <a:ext cx="7400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27180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c26cdefe9f54c12"/>
              </a:rPr>
              <a:t>https://github.com/OpenDataArena/OpenDataArena-Tool</a:t>
            </a:r>
          </a:p>
        </p:txBody>
      </p:sp>
    </p:spTree>
    <p:extLst>
      <p:ext uri="{BB962C8B-B14F-4D97-AF65-F5344CB8AC3E}">
        <p14:creationId xmlns:p14="http://schemas.microsoft.com/office/powerpoint/2010/main" val="1620236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2026-09-15T09:40:29.7080000Z</dcterms:created>
  <dcterms:modified xsi:type="dcterms:W3CDTF">2026-09-15T09:40:29.7080000Z</dcterms:modified>
</coreProperties>
</file>